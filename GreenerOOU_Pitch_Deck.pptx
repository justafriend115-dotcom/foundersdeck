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D5C38"/>
          </a:solidFill>
          <a:ln w="12700">
            <a:solidFill>
              <a:srgbClr val="0D5C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868680"/>
            <a:ext cx="3566160" cy="246888"/>
          </a:xfrm>
          <a:prstGeom prst="ROUNDED_RECTANGLE">
            <a:avLst>
              <a:gd name="adj" fmla="val 14815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86868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TRANSITION  ·  PILOT DECK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344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Greener4U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student transport, starting small.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114800" cy="36576"/>
          </a:xfrm>
          <a:prstGeom prst="RECTANGL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Ogun &amp; Lagos States, Nigeria  ·  Investor Briefing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B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Ish Anand  ·  24 September 2026  ·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246888"/>
          </a:xfrm>
          <a:prstGeom prst="ROUNDED_RECTANGLE">
            <a:avLst>
              <a:gd name="adj" fmla="val 14815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PROBLEM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of a student's monthly budget goes to transport — unsafe, unreliable, or both.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520440" cy="2926080"/>
          </a:xfrm>
          <a:prstGeom prst="ROUNDED_RECTANGLE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566928" cy="566928"/>
          </a:xfrm>
          <a:prstGeom prst="ELLIPSE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 vehicles in poor mechanical condition — no inspection, no accountability.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06240" y="1508760"/>
            <a:ext cx="3520440" cy="2926080"/>
          </a:xfrm>
          <a:prstGeom prst="ROUNDED_RECTANGLE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691640"/>
            <a:ext cx="566928" cy="566928"/>
          </a:xfrm>
          <a:prstGeom prst="ELLIPSE">
            <a:avLst/>
          </a:prstGeom>
          <a:solidFill>
            <a:srgbClr val="D1ECF1"/>
          </a:solidFill>
          <a:ln w="12700">
            <a:solidFill>
              <a:srgbClr val="D1E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377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278892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schedule. Frequent breakdowns and delays that disrupt academic life daily.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1508760"/>
            <a:ext cx="3520440" cy="2926080"/>
          </a:xfrm>
          <a:prstGeom prst="ROUNDED_RECTANGLE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691640"/>
            <a:ext cx="566928" cy="566928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3774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788920"/>
            <a:ext cx="3154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keep rising on already stretched budgets — up to 40% of monthly household spend.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11247120" cy="868680"/>
          </a:xfrm>
          <a:prstGeom prst="ROUNDED_RECTANGLE">
            <a:avLst>
              <a:gd name="adj" fmla="val 10526"/>
            </a:avLst>
          </a:prstGeom>
          <a:solidFill>
            <a:srgbClr val="0B3D2E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6177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875K–1.1M undergraduates nationwide  ·  300–400K commute off-campus daily in Lagos &amp; Ogun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6235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Greener4U rider survey 2026; NUC/UNESCO UIS enrolment data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46888"/>
          </a:xfrm>
          <a:prstGeom prst="ROUNDED_RECTANGLE">
            <a:avLst>
              <a:gd name="adj" fmla="val 14815"/>
            </a:avLst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 MODEL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chase riders. Universities bundle us into fees.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1874520"/>
          </a:xfrm>
          <a:prstGeom prst="ROUNDED_RECTANGLE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18488"/>
            <a:ext cx="420624" cy="420624"/>
          </a:xfrm>
          <a:prstGeom prst="ROUNDED_RECTANGLE">
            <a:avLst>
              <a:gd name="adj" fmla="val 13043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18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 at Registration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07568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join the shuttle plan with tuition fees — ₦5,000–₦7,000/month or per-term. No separate sign-up required.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86400" cy="1874520"/>
          </a:xfrm>
          <a:prstGeom prst="ROUNDED_RECTANGLE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618488"/>
            <a:ext cx="420624" cy="420624"/>
          </a:xfrm>
          <a:prstGeom prst="ROUNDED_RECTANGLE">
            <a:avLst>
              <a:gd name="adj" fmla="val 13043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67728" y="1618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 See Everything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67728" y="207568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tracking on every trip builds family trust, reduces churn, and drives word-of-mouth.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5486400" cy="1874520"/>
          </a:xfrm>
          <a:prstGeom prst="ROUNDED_RECTANGLE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21608"/>
            <a:ext cx="420624" cy="420624"/>
          </a:xfrm>
          <a:prstGeom prst="ROUNDED_RECTANGLE">
            <a:avLst>
              <a:gd name="adj" fmla="val 13043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721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Arrives Upfront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417880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Termly fee remittance gives predictable working capital — cash in hand before a route runs.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520440"/>
            <a:ext cx="5486400" cy="1874520"/>
          </a:xfrm>
          <a:prstGeom prst="ROUNDED_RECTANGLE">
            <a:avLst>
              <a:gd name="adj" fmla="val 4878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3721608"/>
            <a:ext cx="420624" cy="420624"/>
          </a:xfrm>
          <a:prstGeom prst="ROUNDED_RECTANGLE">
            <a:avLst>
              <a:gd name="adj" fmla="val 13043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67728" y="3721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Cost ≈ ₦0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417880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is the distribution channel. No CAC, no sales team, no door-to-door hustle.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246888"/>
          </a:xfrm>
          <a:prstGeom prst="ROUNDED_RECTANGLE">
            <a:avLst>
              <a:gd name="adj" fmla="val 14815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OUR PROOF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petrol buses, operating daily since February 2026.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148840" cy="2377440"/>
          </a:xfrm>
          <a:prstGeom prst="ROUNDED_RECTANGLE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276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1005840" y="2542032"/>
            <a:ext cx="1051560" cy="27432"/>
          </a:xfrm>
          <a:prstGeom prst="RECTANGLE">
            <a:avLst/>
          </a:prstGeom>
          <a:solidFill>
            <a:srgbClr val="D1EBDF"/>
          </a:solidFill>
          <a:ln w="12700">
            <a:solidFill>
              <a:srgbClr val="D1EB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routes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06624" y="1463040"/>
            <a:ext cx="2148840" cy="2377440"/>
          </a:xfrm>
          <a:prstGeom prst="ROUNDED_RECTANGLE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06624" y="16276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600+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255264" y="2542032"/>
            <a:ext cx="1051560" cy="27432"/>
          </a:xfrm>
          <a:prstGeom prst="RECTANGLE">
            <a:avLst/>
          </a:prstGeom>
          <a:solidFill>
            <a:srgbClr val="D1EBDF"/>
          </a:solidFill>
          <a:ln w="12700">
            <a:solidFill>
              <a:srgbClr val="D1EB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06624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56048" y="1463040"/>
            <a:ext cx="2148840" cy="2377440"/>
          </a:xfrm>
          <a:prstGeom prst="ROUNDED_RECTANGLE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56048" y="16276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₦14.3M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5504688" y="2542032"/>
            <a:ext cx="1051560" cy="27432"/>
          </a:xfrm>
          <a:prstGeom prst="RECTANGLE">
            <a:avLst/>
          </a:prstGeom>
          <a:solidFill>
            <a:srgbClr val="D1EBDF"/>
          </a:solidFill>
          <a:ln w="12700">
            <a:solidFill>
              <a:srgbClr val="D1EB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56048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05472" y="1463040"/>
            <a:ext cx="2148840" cy="2377440"/>
          </a:xfrm>
          <a:prstGeom prst="ROUNDED_RECTANGLE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05472" y="16276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₦4M+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7754112" y="2542032"/>
            <a:ext cx="1051560" cy="27432"/>
          </a:xfrm>
          <a:prstGeom prst="RECTANGLE">
            <a:avLst/>
          </a:prstGeom>
          <a:solidFill>
            <a:srgbClr val="D1EBDF"/>
          </a:solidFill>
          <a:ln w="12700">
            <a:solidFill>
              <a:srgbClr val="D1EB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05472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54896" y="1463040"/>
            <a:ext cx="2148840" cy="2377440"/>
          </a:xfrm>
          <a:prstGeom prst="ROUNDED_RECTANGLE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54896" y="16276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3400" dirty="0"/>
          </a:p>
        </p:txBody>
      </p:sp>
      <p:sp>
        <p:nvSpPr>
          <p:cNvPr id="23" name="Shape 21"/>
          <p:cNvSpPr/>
          <p:nvPr/>
        </p:nvSpPr>
        <p:spPr>
          <a:xfrm>
            <a:off x="10003536" y="2542032"/>
            <a:ext cx="1051560" cy="27432"/>
          </a:xfrm>
          <a:prstGeom prst="RECTANGLE">
            <a:avLst/>
          </a:prstGeom>
          <a:solidFill>
            <a:srgbClr val="D1EBDF"/>
          </a:solidFill>
          <a:ln w="12700">
            <a:solidFill>
              <a:srgbClr val="D1EB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54896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11247120" cy="1051560"/>
          </a:xfrm>
          <a:prstGeom prst="ROUNDED_RECTANGLE">
            <a:avLst>
              <a:gd name="adj" fmla="val 8696"/>
            </a:avLst>
          </a:prstGeom>
          <a:solidFill>
            <a:srgbClr val="0B3D2E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40690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85% rider satisfaction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40690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120+ students waitlisted for electric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046720" y="40690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fee-bundling agreement signed (2 more in discussion)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52578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Greener4U internal operations data, Feb–Sep 2026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46888"/>
          </a:xfrm>
          <a:prstGeom prst="ROUNDED_RECTANGLE">
            <a:avLst>
              <a:gd name="adj" fmla="val 14815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THE NEXT STEP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model works electric — before we scale it.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166360" cy="4160520"/>
          </a:xfrm>
          <a:prstGeom prst="ROUNDED_RECTANGLE">
            <a:avLst>
              <a:gd name="adj" fmla="val 2198"/>
            </a:avLst>
          </a:prstGeom>
          <a:solidFill>
            <a:srgbClr val="F0FAF5"/>
          </a:solidFill>
          <a:ln w="19050">
            <a:solidFill>
              <a:srgbClr val="C8E6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Petrol Buses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603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Proven daily demand on five campus routes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03580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₦14.3M/month revenue · ₦4M+/month profit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5112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28% profit margin — repeatable unit economics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8678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Team, operations, and routes established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23560" y="32461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820"/>
                </a:solidFill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492240" y="1417320"/>
            <a:ext cx="5166360" cy="4160520"/>
          </a:xfrm>
          <a:prstGeom prst="ROUNDED_RECTANGLE">
            <a:avLst>
              <a:gd name="adj" fmla="val 2198"/>
            </a:avLst>
          </a:prstGeom>
          <a:solidFill>
            <a:srgbClr val="0B3D2E"/>
          </a:solidFill>
          <a:ln w="19050">
            <a:solidFill>
              <a:srgbClr val="1A7A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920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 Electric Buses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5603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Two routes, solar-charged off-grid depot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03580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Running alongside the existing petrol fleet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51129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Same proven demand — zero emissions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398678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Validate electric economics at real scale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246888"/>
          </a:xfrm>
          <a:prstGeom prst="ROUNDED_RECTANGLE">
            <a:avLst>
              <a:gd name="adj" fmla="val 14815"/>
            </a:avLst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THE VEHICLE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 Mover EV Shuttle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" cy="54864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🚌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Road-legal speed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7465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Nigerian campus corridors — not golf courses.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48640" cy="54864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606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parts &amp; service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9352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parts and technicians you can source in-country.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emissions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41239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tailpipe, no exhaust. Covers full daily route cycles per charge.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548640" cy="54864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🛠️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983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maintenance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53126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moving parts, no oil changes — lower lifetime operating cost.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1325880"/>
            <a:ext cx="5120640" cy="4389120"/>
          </a:xfrm>
          <a:prstGeom prst="ROUNDED_RECTANGLE">
            <a:avLst>
              <a:gd name="adj" fmla="val 2083"/>
            </a:avLst>
          </a:prstGeom>
          <a:solidFill>
            <a:srgbClr val="0B3D2E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JET MOVER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20116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Proven performance on Nigerian roads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6791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In-country supplier network for spare parts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34670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Solar-compatible charging system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401421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Passenger capacity matched to campus demand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6817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DVLA road-registration compliant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46888"/>
          </a:xfrm>
          <a:prstGeom prst="ROUNDED_RECTANGLE">
            <a:avLst>
              <a:gd name="adj" fmla="val 14815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THE ASK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$200,000 to fund the electric pilot.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3566160"/>
          </a:xfrm>
          <a:prstGeom prst="ROUNDED_RECTANGLE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651760" cy="457200"/>
          </a:xfrm>
          <a:prstGeom prst="ROUNDED_RECTANGLE">
            <a:avLst>
              <a:gd name="adj" fmla="val 20000"/>
            </a:avLst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8483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7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$120K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Acquisition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Jet Mover EV shuttles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3566160"/>
          </a:xfrm>
          <a:prstGeom prst="ROUNDED_RECTANGLE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508760"/>
            <a:ext cx="2651760" cy="457200"/>
          </a:xfrm>
          <a:prstGeom prst="ROUNDED_RECTANGLE">
            <a:avLst>
              <a:gd name="adj" fmla="val 20000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08483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$40K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Depot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Off-grid charging + battery storage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508760"/>
            <a:ext cx="2651760" cy="3566160"/>
          </a:xfrm>
          <a:prstGeom prst="ROUNDED_RECTANGLE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508760"/>
            <a:ext cx="2651760" cy="457200"/>
          </a:xfrm>
          <a:prstGeom prst="ROUNDED_RECTANGLE">
            <a:avLst>
              <a:gd name="adj" fmla="val 20000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208483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8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$30K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Ops, Tech &amp; Evidence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Telemetry, price testing, measurement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61120" y="1508760"/>
            <a:ext cx="2651760" cy="3566160"/>
          </a:xfrm>
          <a:prstGeom prst="ROUNDED_RECTANGLE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0" y="1508760"/>
            <a:ext cx="2651760" cy="457200"/>
          </a:xfrm>
          <a:prstGeom prst="ROUNDED_RECTANGLE">
            <a:avLst>
              <a:gd name="adj" fmla="val 20000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208483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8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$10K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Contingency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3429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the unexpected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246888"/>
          </a:xfrm>
          <a:prstGeom prst="ROUNDED_RECTANGLE">
            <a:avLst>
              <a:gd name="adj" fmla="val 14815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WHAT WE DELIVER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pilot built to produce real proof, not projections.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709928" y="1600200"/>
            <a:ext cx="877824" cy="877824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09928" y="1600200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615184"/>
            <a:ext cx="3611880" cy="2743200"/>
          </a:xfrm>
          <a:prstGeom prst="ROUNDED_RECTANGLE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163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Integrate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310128"/>
            <a:ext cx="3246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electric buses, train drivers, and add vehicles to live campus routes alongside the existing petrol fleet.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94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550408" y="1600200"/>
            <a:ext cx="877824" cy="877824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50408" y="1600200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97680" y="2615184"/>
            <a:ext cx="3611880" cy="2743200"/>
          </a:xfrm>
          <a:prstGeom prst="ROUNDED_RECTANGLE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28163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Operate &amp; Measure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310128"/>
            <a:ext cx="3246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daily across two routes — logging energy use, cost per trip, ridership, and driver experience in real time.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0" y="36118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94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390888" y="1600200"/>
            <a:ext cx="877824" cy="877824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90888" y="1600200"/>
            <a:ext cx="8778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138160" y="2615184"/>
            <a:ext cx="3611880" cy="2743200"/>
          </a:xfrm>
          <a:prstGeom prst="ROUNDED_RECTANGLE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28163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&amp; Report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310128"/>
            <a:ext cx="3246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cost comparison vs petrol, a validated ROI model, and a replicable blueprint for scaling to additional campuses.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46888"/>
          </a:xfrm>
          <a:prstGeom prst="ROUNDED_RECTANGLE">
            <a:avLst>
              <a:gd name="adj" fmla="val 14815"/>
            </a:avLst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IMPACT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two electric buses prove for the whole fleet.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1920240"/>
          </a:xfrm>
          <a:prstGeom prst="ROUNDED_RECTANGLE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594360" cy="59436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6916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Cleaner Campus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13055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tailpipe emissions on every pilot route — immediate improvement for students and staff.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1920240"/>
          </a:xfrm>
          <a:prstGeom prst="ROUNDED_RECTANGLE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737360"/>
            <a:ext cx="594360" cy="59436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⬇️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242048" y="16916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Costs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42048" y="213055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lower energy &amp; maintenance cost per trip vs petrol. No exposure to volatile fuel prices.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5486400" cy="1920240"/>
          </a:xfrm>
          <a:prstGeom prst="ROUNDED_RECTANGLE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86200"/>
            <a:ext cx="594360" cy="59436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8404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Households Breathe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27939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subscriptions replace fares eating up to 40% of family budgets — predictable and affordable.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611880"/>
            <a:ext cx="5486400" cy="1920240"/>
          </a:xfrm>
          <a:prstGeom prst="ROUNDED_RECTANGLE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886200"/>
            <a:ext cx="594360" cy="59436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42048" y="38404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Replicable Blueprint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242048" y="427939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and real data for the next investment round — proof first, then scale.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246888"/>
          </a:xfrm>
          <a:prstGeom prst="ROUNDED_RECTANGLE">
            <a:avLst>
              <a:gd name="adj" fmla="val 14815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WHY NOW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 is open. We're already operating.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1920240"/>
          </a:xfrm>
          <a:prstGeom prst="ROUNDED_RECTANGLE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594360" cy="594360"/>
          </a:xfrm>
          <a:prstGeom prst="ELLIPSE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⛽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6916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Fuel Costs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13055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 volatility keeps squeezing margins on every route — the EV case gets stronger each quarter.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1920240"/>
          </a:xfrm>
          <a:prstGeom prst="ROUNDED_RECTANGLE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737360"/>
            <a:ext cx="594360" cy="594360"/>
          </a:xfrm>
          <a:prstGeom prst="ELLIPSE">
            <a:avLst/>
          </a:prstGeom>
          <a:solidFill>
            <a:srgbClr val="D1ECF1"/>
          </a:solidFill>
          <a:ln w="12700">
            <a:solidFill>
              <a:srgbClr val="D1E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242048" y="16916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EV Push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242048" y="213055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Transition Plan, pending EV/Green Mobility Bill, IDEC duty-waiver application live — policy tailwinds in our favour.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5486400" cy="1920240"/>
          </a:xfrm>
          <a:prstGeom prst="ROUNDED_RECTANGLE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886200"/>
            <a:ext cx="594360" cy="594360"/>
          </a:xfrm>
          <a:prstGeom prst="ELLIPSE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38404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Is Open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427939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 exited Nigeria. Campus mobility has no institutional player. The lane is clear.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611880"/>
            <a:ext cx="5486400" cy="1920240"/>
          </a:xfrm>
          <a:prstGeom prst="ROUNDED_RECTANGLE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886200"/>
            <a:ext cx="594360" cy="594360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3886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242048" y="384048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Already Operate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242048" y="4279392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ridership, established routes, experienced team — only the fleet needs to change.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246888"/>
          </a:xfrm>
          <a:prstGeom prst="ROUNDED_RECTANGLE">
            <a:avLst>
              <a:gd name="adj" fmla="val 14815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MARKET &amp; MOAT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underserved market with durable structural advantages.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5303520"/>
          </a:xfrm>
          <a:prstGeom prst="ELLIPSE">
            <a:avLst/>
          </a:prstGeom>
          <a:solidFill>
            <a:srgbClr val="EAF5EF"/>
          </a:solidFill>
          <a:ln w="12700">
            <a:solidFill>
              <a:srgbClr val="EAF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874520"/>
            <a:ext cx="3931920" cy="3931920"/>
          </a:xfrm>
          <a:prstGeom prst="ELLIPSE">
            <a:avLst/>
          </a:prstGeom>
          <a:solidFill>
            <a:srgbClr val="C8E6D7"/>
          </a:solidFill>
          <a:ln w="12700">
            <a:solidFill>
              <a:srgbClr val="C8E6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423160"/>
            <a:ext cx="2377440" cy="237744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4231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Yr 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166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875K–1.1M undergrads nationwide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54223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SAM: 300–400K Lagos/Ogun daily commuters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5577840" cy="3520440"/>
          </a:xfrm>
          <a:prstGeom prst="ROUNDED_RECTANGLE">
            <a:avLst>
              <a:gd name="adj" fmla="val 2597"/>
            </a:avLst>
          </a:prstGeom>
          <a:solidFill>
            <a:srgbClr val="0B3D2E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627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MOAT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0574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University contracts &amp; fee-bundling lock-in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7157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Ridership data and route optimisation IP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37413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Solar depot infrastructure advantage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0325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Operations team already on the ground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5074920"/>
            <a:ext cx="5577840" cy="822960"/>
          </a:xfrm>
          <a:prstGeom prst="ROUNDED_RECTANGLE">
            <a:avLst>
              <a:gd name="adj" fmla="val 11111"/>
            </a:avLst>
          </a:prstGeom>
          <a:solidFill>
            <a:srgbClr val="00B894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26480" y="50749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shuttles: charging-as-a-service  ·  carbon credits  ·  in-app advertising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246888"/>
          </a:xfrm>
          <a:prstGeom prst="ROUNDED_RECTANGLE">
            <a:avLst>
              <a:gd name="adj" fmla="val 14815"/>
            </a:avLst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OUR TEAM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first, technologists second.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114800"/>
          </a:xfrm>
          <a:prstGeom prst="ROUNDED_RECTANGLE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1737360"/>
            <a:ext cx="1371600" cy="13716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1460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Richard Oniagba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28800" y="3730752"/>
            <a:ext cx="2743200" cy="301752"/>
          </a:xfrm>
          <a:prstGeom prst="ROUNDED_RECTANGLE">
            <a:avLst>
              <a:gd name="adj" fmla="val 18182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28800" y="37307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1605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Greener4U from family savings to ₦14.3M/month. Leads operations, financial modelling, and university partnerships. The person who made the buses run.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486400" cy="4114800"/>
          </a:xfrm>
          <a:prstGeom prst="ROUNDED_RECTANGLE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1737360"/>
            <a:ext cx="1371600" cy="1371600"/>
          </a:xfrm>
          <a:prstGeom prst="ELLIPSE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Nifemi Otubanjo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680960" y="3730752"/>
            <a:ext cx="2743200" cy="301752"/>
          </a:xfrm>
          <a:prstGeom prst="ROUNDED_RECTANGLE">
            <a:avLst>
              <a:gd name="adj" fmla="val 18182"/>
            </a:avLst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3730752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CTO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1605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product &amp; technology — rider app, parent tracking, payments, and telemetry. Turns real-world operations into data-driven decisions.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742432"/>
            <a:ext cx="11247120" cy="685800"/>
          </a:xfrm>
          <a:prstGeom prst="ROUNDED_RECTANGLE">
            <a:avLst>
              <a:gd name="adj" fmla="val 13333"/>
            </a:avLst>
          </a:prstGeom>
          <a:solidFill>
            <a:srgbClr val="F0FAF5"/>
          </a:solidFill>
          <a:ln w="19050">
            <a:solidFill>
              <a:srgbClr val="C8E6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57424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at close: Fleet Operations Manager  ·  Supplier-trained EV Technician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651760" cy="246888"/>
          </a:xfrm>
          <a:prstGeom prst="ROUNDED_RECTANGLE">
            <a:avLst>
              <a:gd name="adj" fmla="val 14815"/>
            </a:avLst>
          </a:prstGeom>
          <a:solidFill>
            <a:srgbClr val="E8A820"/>
          </a:solidFill>
          <a:ln w="12700">
            <a:solidFill>
              <a:srgbClr val="E8A8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PARTNERSHIP WITH YOU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of Ish Anand — and what we offer in return.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4343400"/>
          </a:xfrm>
          <a:prstGeom prst="ROUNDED_RECTANGLE">
            <a:avLst>
              <a:gd name="adj" fmla="val 2105"/>
            </a:avLst>
          </a:prstGeom>
          <a:solidFill>
            <a:srgbClr val="0B3D2E"/>
          </a:solidFill>
          <a:ln w="19050">
            <a:solidFill>
              <a:srgbClr val="0B3D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SEEK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384048" cy="38404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1488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Gulf &amp; climate-aligned investors writing pre-seed tickets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384048" cy="38404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246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on cross-border raise structuring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343400"/>
            <a:ext cx="384048" cy="384048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3434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syndicate participation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5394960" cy="4343400"/>
          </a:xfrm>
          <a:prstGeom prst="ROUNDED_RECTANGLE">
            <a:avLst>
              <a:gd name="adj" fmla="val 2105"/>
            </a:avLst>
          </a:prstGeom>
          <a:solidFill>
            <a:srgbClr val="FFFFFF"/>
          </a:solidFill>
          <a:ln w="19050">
            <a:solidFill>
              <a:srgbClr val="D1EB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PROVIDE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2148840"/>
            <a:ext cx="438912" cy="438912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148840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data room — all operations data accessible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3044952"/>
            <a:ext cx="438912" cy="438912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044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044952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written updates — no surprises, ever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0" y="3941064"/>
            <a:ext cx="438912" cy="438912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941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3941064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mandate &amp; timeline — defined milestones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4837176"/>
            <a:ext cx="438912" cy="438912"/>
          </a:xfrm>
          <a:prstGeom prst="ELLIPSE">
            <a:avLst/>
          </a:prstGeom>
          <a:solidFill>
            <a:srgbClr val="E6F7F1"/>
          </a:solidFill>
          <a:ln w="12700">
            <a:solidFill>
              <a:srgbClr val="E6F7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4837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086600" y="4837176"/>
            <a:ext cx="4434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engagements in writing — full accountability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5105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1A7A52"/>
          </a:solidFill>
          <a:ln w="12700">
            <a:solidFill>
              <a:srgbClr val="1A7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D5C38"/>
          </a:solidFill>
          <a:ln w="12700">
            <a:solidFill>
              <a:srgbClr val="0D5C3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buses.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ECC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campuses.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at scale.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690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the pilot.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3200400" cy="36576"/>
          </a:xfrm>
          <a:prstGeom prst="RECTANGL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7548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 Oniagba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148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+234 904 482 4819  ·  oniagbarichard@gmail.com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7607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prepared for Ish Anand, 24 September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2026-09-24T12:02:47Z</dcterms:created>
  <dcterms:modified xsi:type="dcterms:W3CDTF">2026-09-24T12:02:47Z</dcterms:modified>
</cp:coreProperties>
</file>